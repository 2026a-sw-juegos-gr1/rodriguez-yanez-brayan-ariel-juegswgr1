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6C2BD9">
              <a:alpha val="15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731520"/>
            <a:ext cx="4572000" cy="4572000"/>
          </a:xfrm>
          <a:prstGeom prst="ellipse">
            <a:avLst/>
          </a:prstGeom>
          <a:solidFill>
            <a:srgbClr val="9B59FF">
              <a:alpha val="10000"/>
            </a:srgbClr>
          </a:solidFill>
          <a:ln w="12700">
            <a:solidFill>
              <a:srgbClr val="9B59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01  •  TALLER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 de Sistemas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Mecánicas de Juego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0972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histórico · Propuesta técnica · Pitch inverso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560320" cy="777240"/>
          </a:xfrm>
          <a:prstGeom prst="rect">
            <a:avLst/>
          </a:prstGeom>
          <a:solidFill>
            <a:srgbClr val="6C2BD9">
              <a:alpha val="25000"/>
            </a:srgbClr>
          </a:solidFill>
          <a:ln w="12700">
            <a:solidFill>
              <a:srgbClr val="6C2BD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14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Tríptico Evolutivo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4114800"/>
            <a:ext cx="2560320" cy="777240"/>
          </a:xfrm>
          <a:prstGeom prst="rect">
            <a:avLst/>
          </a:prstGeom>
          <a:solidFill>
            <a:srgbClr val="00D4C8">
              <a:alpha val="25000"/>
            </a:srgbClr>
          </a:solidFill>
          <a:ln w="12700">
            <a:solidFill>
              <a:srgbClr val="00D4C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114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Propuesta Original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4114800"/>
            <a:ext cx="2560320" cy="777240"/>
          </a:xfrm>
          <a:prstGeom prst="rect">
            <a:avLst/>
          </a:prstGeom>
          <a:solidFill>
            <a:srgbClr val="F0A500">
              <a:alpha val="25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114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Pitch Inverso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C9"/>
                </a:solidFill>
              </a:rPr>
              <a:t>Ingeniería de Desarrollo de Videojuegos  •  UCLA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</a:rPr>
              <a:t>FASE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Tríptico Evolutivo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78308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DIMENSIÓN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2240280" cy="502920"/>
          </a:xfrm>
          <a:prstGeom prst="rect">
            <a:avLst/>
          </a:prstGeom>
          <a:solidFill>
            <a:srgbClr val="3D1A8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005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(Orígenes – 2000s)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2240280" cy="502920"/>
          </a:xfrm>
          <a:prstGeom prst="rect">
            <a:avLst/>
          </a:prstGeom>
          <a:solidFill>
            <a:srgbClr val="1A5E8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005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PRESENTE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(Actualidad)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75120" y="1005840"/>
            <a:ext cx="2240280" cy="502920"/>
          </a:xfrm>
          <a:prstGeom prst="rect">
            <a:avLst/>
          </a:prstGeom>
          <a:solidFill>
            <a:srgbClr val="1A7A5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05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FUTURO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(Próxima Década)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1783080" cy="109728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002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🏗 Arquitectura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y Hardware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1554480"/>
            <a:ext cx="2240280" cy="109728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6002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F"/>
                </a:solidFill>
              </a:rPr>
              <a:t>8/16-bit, memoria RAM mínima, renderizado por software, cartuchos limitados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1554480"/>
            <a:ext cx="2240280" cy="109728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6002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F"/>
                </a:solidFill>
              </a:rPr>
              <a:t>GPUs dedicadas, Ray Tracing, SSDs NVMe, cloud gaming (latencia &lt; 20ms)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1554480"/>
            <a:ext cx="2240280" cy="109728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6002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C8"/>
                </a:solidFill>
              </a:rPr>
              <a:t>Computación cuántica, IA generativa local, procesamiento distribuido masivo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1783080" cy="1097280"/>
          </a:xfrm>
          <a:prstGeom prst="rect">
            <a:avLst/>
          </a:prstGeom>
          <a:solidFill>
            <a:srgbClr val="171030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432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💰 Modelos de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Negocio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03120" y="2697480"/>
            <a:ext cx="2240280" cy="1097280"/>
          </a:xfrm>
          <a:prstGeom prst="rect">
            <a:avLst/>
          </a:prstGeom>
          <a:solidFill>
            <a:srgbClr val="171030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27432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F"/>
                </a:solidFill>
              </a:rPr>
              <a:t>Venta física directa, arcade (pago por uso), sin actualizaciones post-lanzamiento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0" y="2697480"/>
            <a:ext cx="2240280" cy="1097280"/>
          </a:xfrm>
          <a:prstGeom prst="rect">
            <a:avLst/>
          </a:prstGeom>
          <a:solidFill>
            <a:srgbClr val="171030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7432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F"/>
                </a:solidFill>
              </a:rPr>
              <a:t>GaaS, microtransacciones cosméticas, suscripciones (Game Pass, PS Plus)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2697480"/>
            <a:ext cx="2240280" cy="1097280"/>
          </a:xfrm>
          <a:prstGeom prst="rect">
            <a:avLst/>
          </a:prstGeom>
          <a:solidFill>
            <a:srgbClr val="171030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7432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C8"/>
                </a:solidFill>
              </a:rPr>
              <a:t>Economías descentralizadas (Web3), interoperabilidad de activos entre plataformas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1783080" cy="1097280"/>
          </a:xfrm>
          <a:prstGeom prst="rect">
            <a:avLst/>
          </a:prstGeom>
          <a:solidFill>
            <a:srgbClr val="141025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862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🎮 Interacción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y UX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3840480"/>
            <a:ext cx="2240280" cy="1097280"/>
          </a:xfrm>
          <a:prstGeom prst="rect">
            <a:avLst/>
          </a:prstGeom>
          <a:solidFill>
            <a:srgbClr val="141025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38862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F"/>
                </a:solidFill>
              </a:rPr>
              <a:t>D-Pad básico, dificultad punitiva, sin save states, pantallas de carga largas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0" y="3840480"/>
            <a:ext cx="2240280" cy="1097280"/>
          </a:xfrm>
          <a:prstGeom prst="rect">
            <a:avLst/>
          </a:prstGeom>
          <a:solidFill>
            <a:srgbClr val="141025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8862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F"/>
                </a:solidFill>
              </a:rPr>
              <a:t>Retroalimentación háptica, mundos abiertos, AR/VR, personalización profunda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75120" y="3840480"/>
            <a:ext cx="2240280" cy="1097280"/>
          </a:xfrm>
          <a:prstGeom prst="rect">
            <a:avLst/>
          </a:prstGeom>
          <a:solidFill>
            <a:srgbClr val="141025"/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8862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C8"/>
                </a:solidFill>
              </a:rPr>
              <a:t>Interfaces cerebro-computadora (BCI), Realidad Extendida (XR) total, haptics neurales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</a:rPr>
              <a:t>DIMENSIÓN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Hardware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347472"/>
          </a:xfrm>
          <a:prstGeom prst="rect">
            <a:avLst/>
          </a:prstGeom>
          <a:solidFill>
            <a:srgbClr val="3D1A8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2834640" cy="3474720"/>
          </a:xfrm>
          <a:prstGeom prst="rect">
            <a:avLst/>
          </a:prstGeom>
          <a:solidFill>
            <a:srgbClr val="1A1035"/>
          </a:solidFill>
          <a:ln w="12700">
            <a:solidFill>
              <a:srgbClr val="3D1A8C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Procesadores 8/16-bit (NES: 1.79 MHz, SNES: 3.58 MHz)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RAM: 2 KB – 128 KB. Cartuchos de solo lectura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Renderizado por software (sin GPU dedicada)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Resoluciones: 256×240 px. Paletas de 4-16 colores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Sin almacenamiento persistente en muchos títulos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834640" cy="347472"/>
          </a:xfrm>
          <a:prstGeom prst="rect">
            <a:avLst/>
          </a:prstGeom>
          <a:solidFill>
            <a:srgbClr val="1A5E8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834640" cy="34747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5E8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630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GPUs con Ray Tracing en tiempo real (NVIDIA RTX, AMD RDNA3)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SSDs NVMe: carga de mundos &lt; 2 segundos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Cloud gaming: Google Stadia, Xbox Cloud, GeForce NOW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4K/120fps, HDR, VRR (Variable Refresh Rate)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Consolas híbridas (portátil + fija): Nintendo Switch, Steam Deck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834640" cy="347472"/>
          </a:xfrm>
          <a:prstGeom prst="rect">
            <a:avLst/>
          </a:prstGeom>
          <a:solidFill>
            <a:srgbClr val="1A7A5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FUTURO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89888"/>
            <a:ext cx="2834640" cy="34747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7A5E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630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Computación cuántica para simulaciones físicas complejas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IA generativa LOCAL en dispositivo (NPUs dedicadas)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Procesamiento distribuido: jugadores como nodos de cómputo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Chips XR integrados: realidad mixta sin headsets externos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Streaming neuronal de contenido adaptado en tiempo real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</a:rPr>
              <a:t>DIMENSIÓN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de Negocio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4864"/>
          </a:xfrm>
          <a:prstGeom prst="rect">
            <a:avLst/>
          </a:prstGeom>
          <a:solidFill>
            <a:srgbClr val="6C2BD9">
              <a:alpha val="60000"/>
            </a:srgbClr>
          </a:solidFill>
          <a:ln w="12700">
            <a:solidFill>
              <a:srgbClr val="6C2BD9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896112"/>
            <a:ext cx="256032" cy="256032"/>
          </a:xfrm>
          <a:prstGeom prst="ellipse">
            <a:avLst/>
          </a:prstGeom>
          <a:solidFill>
            <a:srgbClr val="3D1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2743200" cy="3566160"/>
          </a:xfrm>
          <a:prstGeom prst="rect">
            <a:avLst/>
          </a:prstGeom>
          <a:solidFill>
            <a:srgbClr val="1A1035"/>
          </a:solidFill>
          <a:ln w="12700">
            <a:solidFill>
              <a:srgbClr val="3D1A8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743200" cy="310896"/>
          </a:xfrm>
          <a:prstGeom prst="rect">
            <a:avLst/>
          </a:prstGeom>
          <a:solidFill>
            <a:srgbClr val="3D1A8C"/>
          </a:solidFill>
          <a:ln w="12700">
            <a:solidFill>
              <a:srgbClr val="3D1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25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PASADO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Pay-to-Own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Venta física directa en tiendas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Arcade: monedas por partida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Consolas domésticas con cartuchos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Sin DLC ni actualizaciones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Precio único: $40–60 USD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06240" y="896112"/>
            <a:ext cx="256032" cy="256032"/>
          </a:xfrm>
          <a:prstGeom prst="ellipse">
            <a:avLst/>
          </a:prstGeom>
          <a:solidFill>
            <a:srgbClr val="1A5E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25880"/>
            <a:ext cx="2743200" cy="3566160"/>
          </a:xfrm>
          <a:prstGeom prst="rect">
            <a:avLst/>
          </a:prstGeom>
          <a:solidFill>
            <a:srgbClr val="1A1035"/>
          </a:solidFill>
          <a:ln w="12700">
            <a:solidFill>
              <a:srgbClr val="1A5E8C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325880"/>
            <a:ext cx="2743200" cy="310896"/>
          </a:xfrm>
          <a:prstGeom prst="rect">
            <a:avLst/>
          </a:prstGeom>
          <a:solidFill>
            <a:srgbClr val="1A5E8C"/>
          </a:solidFill>
          <a:ln w="12700">
            <a:solidFill>
              <a:srgbClr val="1A5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325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PRESENTE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Games as a Service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Microtransacciones cosméticas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Suscripciones: Game Pass, PS Plus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Battle Pass estacional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F2P con monetización ética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DLC y expansiones digitales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0" y="896112"/>
            <a:ext cx="256032" cy="256032"/>
          </a:xfrm>
          <a:prstGeom prst="ellipse">
            <a:avLst/>
          </a:prstGeom>
          <a:solidFill>
            <a:srgbClr val="0E7A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325880"/>
            <a:ext cx="2743200" cy="3566160"/>
          </a:xfrm>
          <a:prstGeom prst="rect">
            <a:avLst/>
          </a:prstGeom>
          <a:solidFill>
            <a:srgbClr val="1A1035"/>
          </a:solidFill>
          <a:ln w="12700">
            <a:solidFill>
              <a:srgbClr val="0E7A6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325880"/>
            <a:ext cx="2743200" cy="310896"/>
          </a:xfrm>
          <a:prstGeom prst="rect">
            <a:avLst/>
          </a:prstGeom>
          <a:solidFill>
            <a:srgbClr val="0E7A60"/>
          </a:solidFill>
          <a:ln w="12700">
            <a:solidFill>
              <a:srgbClr val="0E7A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325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Economías Descentralizadas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NFT de activos interoperables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Divisas dentro del juego (tokens)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Jugadores como co-propietarios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Mercados P2P entre plataformas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DAOs de comunidades de juego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</a:rPr>
              <a:t>DIMENSIÓN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Interacción y UX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3977640"/>
          </a:xfrm>
          <a:prstGeom prst="rect">
            <a:avLst/>
          </a:prstGeom>
          <a:solidFill>
            <a:srgbClr val="1A1035"/>
          </a:solidFill>
          <a:ln w="12700">
            <a:solidFill>
              <a:srgbClr val="3D1A8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solidFill>
            <a:srgbClr val="3D1A8C"/>
          </a:solidFill>
          <a:ln w="12700">
            <a:solidFill>
              <a:srgbClr val="3D1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🕹  PASADO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606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D-Pad de 8 direcciones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2 botones de acción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Dificultad punitiva (sin guardado)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Pantallas de muerte frecuentes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Sin configuración de accesibilidad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Feedback visual básico (parpadeo)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834640" cy="3977640"/>
          </a:xfrm>
          <a:prstGeom prst="rect">
            <a:avLst/>
          </a:prstGeom>
          <a:solidFill>
            <a:srgbClr val="1A1035"/>
          </a:solidFill>
          <a:ln w="12700">
            <a:solidFill>
              <a:srgbClr val="1A5E8C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60120"/>
            <a:ext cx="2834640" cy="457200"/>
          </a:xfrm>
          <a:prstGeom prst="rect">
            <a:avLst/>
          </a:prstGeom>
          <a:solidFill>
            <a:srgbClr val="1A5E8C"/>
          </a:solidFill>
          <a:ln w="12700">
            <a:solidFill>
              <a:srgbClr val="1A5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PRESENTE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606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Control háptico adaptativo (PS5 DualSense)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Mundos abiertos no lineales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Realidad Aumentada (AR) móvil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Realidad Virtual (VR) inmersiva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Tutoriales dinámicos y modos de accesibilidad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Guarda automático / Checkpoints inteligentes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834640" cy="3977640"/>
          </a:xfrm>
          <a:prstGeom prst="rect">
            <a:avLst/>
          </a:prstGeom>
          <a:solidFill>
            <a:srgbClr val="1A1035"/>
          </a:solidFill>
          <a:ln w="12700">
            <a:solidFill>
              <a:srgbClr val="0E7A6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960120"/>
            <a:ext cx="2834640" cy="457200"/>
          </a:xfrm>
          <a:prstGeom prst="rect">
            <a:avLst/>
          </a:prstGeom>
          <a:solidFill>
            <a:srgbClr val="0E7A60"/>
          </a:solidFill>
          <a:ln w="12700">
            <a:solidFill>
              <a:srgbClr val="0E7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 FUTURO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2606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BCI: interfaces cerebro-computadora (Neuralink)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XR Total: fusión AR + VR + entorno físico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Háptica neuronal (guantes, trajes de feedback)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Eye tracking + expresiones faciales como input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Adaptación emocional del juego en tiempo real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0FF"/>
                </a:solidFill>
              </a:rPr>
              <a:t>Personalización total por IA generativa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6C2BD9">
              <a:alpha val="12000"/>
            </a:srgbClr>
          </a:solidFill>
          <a:ln w="12700">
            <a:solidFill>
              <a:srgbClr val="6C2B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00D4C8">
              <a:alpha val="10000"/>
            </a:srgbClr>
          </a:solidFill>
          <a:ln w="12700">
            <a:solidFill>
              <a:srgbClr val="00D4C8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731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D4C8"/>
                </a:solidFill>
              </a:rPr>
              <a:t>FASE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Ingeniería de una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Propuesta Original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474720" y="2514600"/>
            <a:ext cx="21945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EC9"/>
                </a:solidFill>
              </a:rPr>
              <a:t>Aplicando las lecciones históricas al diseño de 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9EC9"/>
                </a:solidFill>
              </a:rPr>
              <a:t>videojuego técnicamente innovador y comercialmente viable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520440"/>
            <a:ext cx="2286000" cy="457200"/>
          </a:xfrm>
          <a:prstGeom prst="rect">
            <a:avLst/>
          </a:prstGeom>
          <a:solidFill>
            <a:srgbClr val="6C2BD9">
              <a:alpha val="3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1. Concepto &amp; Narrativa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3520440"/>
            <a:ext cx="2286000" cy="457200"/>
          </a:xfrm>
          <a:prstGeom prst="rect">
            <a:avLst/>
          </a:prstGeom>
          <a:solidFill>
            <a:srgbClr val="6C2BD9">
              <a:alpha val="3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2. Stack Tecnológico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3520440"/>
            <a:ext cx="2286000" cy="457200"/>
          </a:xfrm>
          <a:prstGeom prst="rect">
            <a:avLst/>
          </a:prstGeom>
          <a:solidFill>
            <a:srgbClr val="6C2BD9">
              <a:alpha val="3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 Modelo de Negocio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C8"/>
                </a:solidFill>
              </a:rPr>
              <a:t>CONCEPTO GENERAL Y NARRATIVA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EchoRealm: Chronicles of the Woven World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0" cy="685800"/>
          </a:xfrm>
          <a:prstGeom prst="rect">
            <a:avLst/>
          </a:prstGeom>
          <a:solidFill>
            <a:srgbClr val="1A1035"/>
          </a:solidFill>
          <a:ln w="12700">
            <a:solidFill>
              <a:srgbClr val="00D4C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6858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51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C8"/>
                </a:solidFill>
              </a:rPr>
              <a:t>TÍTULO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EchoRealm: Chronicles of the Woven World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3840480" cy="685800"/>
          </a:xfrm>
          <a:prstGeom prst="rect">
            <a:avLst/>
          </a:prstGeom>
          <a:solidFill>
            <a:srgbClr val="1A1035"/>
          </a:solidFill>
          <a:ln w="12700">
            <a:solidFill>
              <a:srgbClr val="00D4C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83080"/>
            <a:ext cx="64008" cy="6858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828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C8"/>
                </a:solidFill>
              </a:rPr>
              <a:t>GÉNERO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" y="2039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RPG de Acción / Aventura XR (Extended Reality)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3840480" cy="685800"/>
          </a:xfrm>
          <a:prstGeom prst="rect">
            <a:avLst/>
          </a:prstGeom>
          <a:solidFill>
            <a:srgbClr val="1A1035"/>
          </a:solidFill>
          <a:ln w="12700">
            <a:solidFill>
              <a:srgbClr val="00D4C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60320"/>
            <a:ext cx="64008" cy="6858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606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C8"/>
                </a:solidFill>
              </a:rPr>
              <a:t>PLATAFORMAS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0352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PC, PS5, Xbox Series X, Meta Quest 3, Apple Vision Pro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3840480" cy="685800"/>
          </a:xfrm>
          <a:prstGeom prst="rect">
            <a:avLst/>
          </a:prstGeom>
          <a:solidFill>
            <a:srgbClr val="1A1035"/>
          </a:solidFill>
          <a:ln w="12700">
            <a:solidFill>
              <a:srgbClr val="00D4C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37560"/>
            <a:ext cx="64008" cy="6858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383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C8"/>
                </a:solidFill>
              </a:rPr>
              <a:t>MODO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0352" y="3593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Single-player principal + Co-op XR asíncrono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960120"/>
            <a:ext cx="4114800" cy="182880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🌐  Narrativa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30759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El jugador es un «Tejedor», un ser capaz de percibir y modificar la capa oculta de la realidad: el EchoRealm. A través de tecnología XR, el mundo físico del jugador se convierte en el campo de batalla donde antiguas entidades buscan colapsar la barrera entre dimensiones.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926080"/>
            <a:ext cx="4114800" cy="1920240"/>
          </a:xfrm>
          <a:prstGeom prst="rect">
            <a:avLst/>
          </a:prstGeom>
          <a:solidFill>
            <a:srgbClr val="1A1035"/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🎯  Público Objetivo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29184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0FF"/>
                </a:solidFill>
              </a:rPr>
              <a:t>Edad: </a:t>
            </a:r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18–35 años (core gamer + early adopter XR)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E0FF"/>
                </a:solidFill>
              </a:rPr>
              <a:t>Perfil: </a:t>
            </a:r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Fanáticos de RPG narrativos, sci-fi y tech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E0FF"/>
                </a:solidFill>
              </a:rPr>
              <a:t>Mercado: </a:t>
            </a:r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Global. Foco en NA, Europa y Asia-Pacífico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E0FF"/>
                </a:solidFill>
              </a:rPr>
              <a:t>Tamaño: </a:t>
            </a:r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Mercado XR gaming 2025: USD $6.8B (proyectado $38B en 2030)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384048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💡  Propuesta de valor única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Tu entorno real ES el dungeon. La IA adapta cada misión a tu espacio físico.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C8"/>
                </a:solidFill>
              </a:rPr>
              <a:t>STACK TECNOLÓGICO Y 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Motor, Mecánica Core e Innovación Técnica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1965960"/>
          </a:xfrm>
          <a:prstGeom prst="rect">
            <a:avLst/>
          </a:prstGeom>
          <a:solidFill>
            <a:srgbClr val="1A1035"/>
          </a:solidFill>
          <a:ln w="12700">
            <a:solidFill>
              <a:srgbClr val="3D1A8C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⚙️  Motor: Unreal Engine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0FF"/>
                </a:solidFill>
              </a:rPr>
              <a:t>Justificación: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E0FF"/>
                </a:solidFill>
              </a:rPr>
              <a:t>Nanite</a:t>
            </a:r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 → geometría ultradetallada para XR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E0FF"/>
                </a:solidFill>
              </a:rPr>
              <a:t>Lumen</a:t>
            </a:r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 → iluminación global en tiempo real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E0FF"/>
                </a:solidFill>
              </a:rPr>
              <a:t>MetaHuman</a:t>
            </a:r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 → NPCs fotorrealistas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E0FF"/>
                </a:solidFill>
              </a:rPr>
              <a:t>XR plugin nativo</a:t>
            </a:r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 → soporte OpenXR multiplataforma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114800" cy="1965960"/>
          </a:xfrm>
          <a:prstGeom prst="rect">
            <a:avLst/>
          </a:prstGeom>
          <a:solidFill>
            <a:srgbClr val="1A1035"/>
          </a:solidFill>
          <a:ln w="12700">
            <a:solidFill>
              <a:srgbClr val="00D4C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🔮  Mecánica Core: EchoScan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37160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The Hook: El jugador escanea su entorno físico con la cámara/headset XR. La IA analiza el espacio (mesas, paredes, suelos) y genera dinámicamente un dungeon personalizado superpuesto en AR. Los enemigos aparecen detrás de tu sofá real. Los cofres están sobre tu escritorio.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017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🛠  Retos Técnicos que Resuelve EchoRealm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401568"/>
            <a:ext cx="2057400" cy="1481328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401568"/>
            <a:ext cx="2057400" cy="36576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564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Spatial Mapping en tiempo real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822192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0FF"/>
                </a:solidFill>
              </a:rPr>
              <a:t>SLAM + IA para mapear y actualizar el entorno físico cada 50ms sin lag perceptible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41448" y="3401568"/>
            <a:ext cx="2057400" cy="1481328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41448" y="3401568"/>
            <a:ext cx="2057400" cy="36576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34564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Síntesis de mundos por 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2888" y="3822192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0FF"/>
                </a:solidFill>
              </a:rPr>
              <a:t>LLM local genera lore, misiones y diálogos únicos adaptados al layout espacial del usuario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08576" y="3401568"/>
            <a:ext cx="2057400" cy="1481328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3401568"/>
            <a:ext cx="2057400" cy="36576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34564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Multiplayer XR asíncrono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0016" y="3822192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0FF"/>
                </a:solidFill>
              </a:rPr>
              <a:t>Protocolo de bajo latencia (&lt;20ms) para co-op donde cada jugador está en su espacio físico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75704" y="3401568"/>
            <a:ext cx="2057400" cy="1481328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75704" y="3401568"/>
            <a:ext cx="2057400" cy="36576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67144" y="34564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Cross-platform XR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67144" y="3822192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0FF"/>
                </a:solidFill>
              </a:rPr>
              <a:t>OpenXR estándar: mismo build corre en Meta Quest, PS VR2, Apple Vision Pro y PC PCVR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</a:rPr>
              <a:t>MODELO DE NEGOCIO Y CICLO DE VIDA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Monetización Ética + Escalabilidad Post-Lanzamiento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Estrategia de Monetización — Sin Pay-to-Win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663440" cy="777240"/>
          </a:xfrm>
          <a:prstGeom prst="rect">
            <a:avLst/>
          </a:prstGeom>
          <a:solidFill>
            <a:srgbClr val="1A1035"/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35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🎮  Premium Base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0" y="1435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$39.99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EC9"/>
                </a:solidFill>
              </a:rPr>
              <a:t>Juego completo, historia principal y mecánicas core XR incluidas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663440" cy="777240"/>
          </a:xfrm>
          <a:prstGeom prst="rect">
            <a:avLst/>
          </a:prstGeom>
          <a:solidFill>
            <a:srgbClr val="1A1035"/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🌌  Season Pass XR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23042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$9.99/mes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EC9"/>
                </a:solidFill>
              </a:rPr>
              <a:t>Nuevas zonas, skins de Tejedor, misiones AR exclusivas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663440" cy="777240"/>
          </a:xfrm>
          <a:prstGeom prst="rect">
            <a:avLst/>
          </a:prstGeom>
          <a:solidFill>
            <a:srgbClr val="1A1035"/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72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✨  Cosmetic Shop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0" y="3172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Variable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502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EC9"/>
                </a:solidFill>
              </a:rPr>
              <a:t>Efectos XR, apariencias de armas, partículas AR personalizables. Sin ventaja competitiva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041648"/>
            <a:ext cx="4663440" cy="804672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148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0FF"/>
                </a:solidFill>
              </a:rPr>
              <a:t>Principio UX-First: Todo contenido de pago es cosmético o de expansión narrativa. El jugador F2P accede a la experiencia completa del juego base. La monetización no fragmenta la comunidad.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98755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Evolución del Producto — Roadmap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1371600"/>
            <a:ext cx="640080" cy="594360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371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v1.0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89320" y="1371600"/>
            <a:ext cx="2926080" cy="59436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4081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C8"/>
                </a:solidFill>
              </a:rPr>
              <a:t>Lanzamiento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80760" y="16184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0FF"/>
                </a:solidFill>
              </a:rPr>
              <a:t>Historia principal + EchoScan AR + 3 clases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03520" y="2084832"/>
            <a:ext cx="640080" cy="594360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0848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v1.1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2084832"/>
            <a:ext cx="2926080" cy="59436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1214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C8"/>
                </a:solidFill>
              </a:rPr>
              <a:t>3 meses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80760" y="2331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0FF"/>
                </a:solidFill>
              </a:rPr>
              <a:t>Patch balanceo + Co-op XR + Editor de espacios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03520" y="2798064"/>
            <a:ext cx="640080" cy="594360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27980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v1.5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89320" y="2798064"/>
            <a:ext cx="2926080" cy="59436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28346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C8"/>
                </a:solidFill>
              </a:rPr>
              <a:t>6 meses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80760" y="3044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0FF"/>
                </a:solidFill>
              </a:rPr>
              <a:t>Season 1: Nueva dimensión + 20 misiones XR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03520" y="3511296"/>
            <a:ext cx="640080" cy="594360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351129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v2.0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89320" y="3511296"/>
            <a:ext cx="2926080" cy="59436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3547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C8"/>
                </a:solidFill>
              </a:rPr>
              <a:t>12 meses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080760" y="37581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0FF"/>
                </a:solidFill>
              </a:rPr>
              <a:t>IA generativa de misiones + Modo creador UGC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03520" y="4224528"/>
            <a:ext cx="640080" cy="594360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42245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v2.5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989320" y="4224528"/>
            <a:ext cx="2926080" cy="594360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4261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C8"/>
                </a:solidFill>
              </a:rPr>
              <a:t>18 meses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080760" y="44714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0FF"/>
                </a:solidFill>
              </a:rPr>
              <a:t>BCI experimental (Neuralink) + Marketplace P2P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59FF"/>
                </a:solidFill>
              </a:rPr>
              <a:t>FASE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Dinámica: El Pitch Inverso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C9"/>
                </a:solidFill>
              </a:rPr>
              <a:t>90 segundos de pitch · Comité Técnico de Auditoría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1170432"/>
          </a:xfrm>
          <a:prstGeom prst="rect">
            <a:avLst/>
          </a:prstGeom>
          <a:solidFill>
            <a:srgbClr val="1A1035"/>
          </a:solidFill>
          <a:ln w="12700">
            <a:solidFill>
              <a:srgbClr val="3D1A8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1691640" cy="329184"/>
          </a:xfrm>
          <a:prstGeom prst="rect">
            <a:avLst/>
          </a:prstGeom>
          <a:solidFill>
            <a:srgbClr val="3D1A8C"/>
          </a:solidFill>
          <a:ln w="12700">
            <a:solidFill>
              <a:srgbClr val="3D1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⚙️ VIABILIDAD TÉCNICA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❓ ¿Cómo manejarán la carga de servidores con la mecánica de spatial mapping?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0FF"/>
                </a:solidFill>
              </a:rPr>
              <a:t>✅ EchoScan procesa el mapping localmente en el dispositivo (edge computing). Solo los datos de estado de partida (no el mesh 3D) se sincronizan con el servidor. Arquitectura serverless (AWS Lambda + GameLift) escala dinámicamente. El co-op XR usa P2P relay con servidor como árbitro, reduciendo carga central en un 70%.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74320" y="2542032"/>
            <a:ext cx="8595360" cy="1170432"/>
          </a:xfrm>
          <a:prstGeom prst="rect">
            <a:avLst/>
          </a:prstGeom>
          <a:solidFill>
            <a:srgbClr val="1A1035"/>
          </a:solidFill>
          <a:ln w="12700">
            <a:solidFill>
              <a:srgbClr val="0E7A6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42032"/>
            <a:ext cx="1691640" cy="329184"/>
          </a:xfrm>
          <a:prstGeom prst="rect">
            <a:avLst/>
          </a:prstGeom>
          <a:solidFill>
            <a:srgbClr val="0E7A60"/>
          </a:solidFill>
          <a:ln w="12700">
            <a:solidFill>
              <a:srgbClr val="0E7A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420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🚀 INNOVACIÓN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907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❓ ¿En qué se diferencia esto de un juego de hace 10 años?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18211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0FF"/>
                </a:solidFill>
              </a:rPr>
              <a:t>✅ Hace 10 años el XR era un headset aislado con contenido preconstruido. EchoRealm usa SLAM en tiempo real + IA generativa para que tu entorno físico sea el nivel. Ningún dungeon es igual porque ningún apartamento es igual. La IA de NPCs (LLM local) tiene memoria persistente y adapta su diálogo a tus decisiones previas: eso no existía hace 10 años.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74320" y="3803904"/>
            <a:ext cx="8595360" cy="1170432"/>
          </a:xfrm>
          <a:prstGeom prst="rect">
            <a:avLst/>
          </a:prstGeom>
          <a:solidFill>
            <a:srgbClr val="1A1035"/>
          </a:solidFill>
          <a:ln w="12700">
            <a:solidFill>
              <a:srgbClr val="8B6914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803904"/>
            <a:ext cx="1691640" cy="32918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8039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💰 MERCADO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416966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❓ ¿Por qué un usuario pagaría por esto hoy en día?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44398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0FF"/>
                </a:solidFill>
              </a:rPr>
              <a:t>✅ El segmento de early adopters XR crece 38% YoY. EchoRealm es el único RPG con mundo generado desde tu espacio real: la propuesta de valor es única e intransferible. La monetización ética (no pay-to-win) fideliza a jugadores exigentes que abandonan títulos GaaS agresivos. Precio base competitivo: $39.99 vs AAA a $70.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457200"/>
            <a:ext cx="4572000" cy="4572000"/>
          </a:xfrm>
          <a:prstGeom prst="ellipse">
            <a:avLst/>
          </a:prstGeom>
          <a:solidFill>
            <a:srgbClr val="6C2BD9">
              <a:alpha val="10000"/>
            </a:srgbClr>
          </a:solidFill>
          <a:ln w="12700">
            <a:solidFill>
              <a:srgbClr val="6C2BD9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0A500"/>
                </a:solidFill>
              </a:rPr>
              <a:t>CONCLUSIONES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594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historia no se repite,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pero rima.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0" y="1645920"/>
            <a:ext cx="182880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83080"/>
            <a:ext cx="7315200" cy="658368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4708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85623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La tecnología habilita mecánicas: XR hoy = lo que el D-Pad fue en 1985. Una nueva interfaz genera nuevos géneros.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2542032"/>
            <a:ext cx="7315200" cy="658368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060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615184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Los modelos de negocio evolucionan hacia la co-creación: el jugador es productor de contenido y potencialmente copropietario.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300984"/>
            <a:ext cx="7315200" cy="658368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6499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37413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La innovación real mezcla lecciones del pasado (diseño sólido, narrativa) con tecnología actual (IA, XR) sin sacrificar UX.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4059936"/>
            <a:ext cx="7315200" cy="658368"/>
          </a:xfrm>
          <a:prstGeom prst="rect">
            <a:avLst/>
          </a:prstGeom>
          <a:solidFill>
            <a:srgbClr val="1A1035"/>
          </a:solidFill>
          <a:ln w="12700">
            <a:solidFill>
              <a:srgbClr val="6C2BD9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2394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13308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0FF"/>
                </a:solidFill>
              </a:rPr>
              <a:t>EchoRealm sintetiza este tríptico: raíces en el RPG clásico, mecánicas XR de vanguardia, monetización responsable.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EC9"/>
                </a:solidFill>
              </a:rPr>
              <a:t>EchoRealm: Chronicles of the Woven World  •  UCLA – Taller Clase 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Taller: Evolución de Sistemas y Mecánicas de Juego</dc:title>
  <dc:subject>PptxGenJS Presentation</dc:subject>
  <dc:creator>PptxGenJS</dc:creator>
  <cp:lastModifiedBy>PptxGenJS</cp:lastModifiedBy>
  <cp:revision>1</cp:revision>
  <dcterms:created xsi:type="dcterms:W3CDTF">2026-04-10T21:56:32Z</dcterms:created>
  <dcterms:modified xsi:type="dcterms:W3CDTF">2026-04-10T21:56:32Z</dcterms:modified>
</cp:coreProperties>
</file>